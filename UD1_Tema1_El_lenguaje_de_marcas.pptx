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unidad. Objetivo: que al acabar la sesión el alumnado sepa qué es un lenguaje de marcas, conozca XML y sea capaz de escribir un documento bien formado con espacios de nombres.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 de la unidad y criterios que se evaluarán. La evaluación es práctica y se entrega en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lenguaje de marcas añade información (marcas) al contenido mediante etiquetas. Insistir en la diferencia etiqueta / elemento / atributo, se usará todo 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Puntos clave para el criterio RA1 a) y b). Preguntar al alumnado un ejemplo de cada ventaja en una app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 marcado de IBM en 1969 hasta HTML5. Conectar con SGML como madre de HTML y XML.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 = International Organization for Standardization (en la ficha aparece como International Standard Organization). W3C fundado en 1994.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tipos según lo que describen. HTML es híbrido: estructura y algo de presentación (por eso HTML5 elimina las etiquetas de presentación).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de referencia para RA1 c) y d). Que el alumnado localice un ejemplo real de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Necesidad: cada ámbito requiere su vocabulario. XML es un metalenguaje: permite definir lenguajes nuevos. Muchos de los lenguajes de la tabla anterior están basados en XML.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Entorno de trabajo del curso: VS Code + Git. Enseñar cómo instalar las extensiones y ver los errores subrayados.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XML = eXtensible Markup Language. Insistir: XML describe datos, no los presenta; y es estricto con los errores, a diferencia de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ejemplo línea a línea. El prólogo es opcional según el estándar, pero lo exigimos en el módulo.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cinco reglas son las que se comprueban en la práctica y en la GitHub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 formado = sintaxis correcta. Válido = además cumple una DTD/XSD (unidades 10 y 11). Un parser XML se detiene ante el primer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Problema: dos vocabularios con el mismo nombre de etiqueta. Solución: xmlns + prefijo. La URI es solo un identificador único, no tiene por qué existir en la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RA4 menciona JSON como lenguaje de listas. Mismo dato, dos notaciones. JSON es más compacto; XML admite atributos, comentarios, validación con esquemas y namespaces.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final: pedir al alumnado que explique con sus palabras cada clave.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al laboratorio. Recordar la política de IA y que se auditará el historial de commits.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0" y="1097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/&gt;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lenguaje de marcas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Concepto, clasificación, XML y documentos bien formados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Marcas y Sistemas de Gestión de Información · 1º DAM · Curso 2026/2027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Mª del Carmen Sánchez Ruiz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vamos a aprender?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Marcas · 1º DAM · UD1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11704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Concepto, características y orígenes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18105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y lenguajes más relevantes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46888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24505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edición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57200" y="310896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51560" y="30906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XML: características y etiquetas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57200" y="374904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051560" y="37307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bien formados y espacios de nombres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577840" y="1143000"/>
            <a:ext cx="3108960" cy="3246120"/>
          </a:xfrm>
          <a:prstGeom prst="roundRect">
            <a:avLst>
              <a:gd name="adj" fmla="val 2941"/>
            </a:avLst>
          </a:prstGeom>
          <a:solidFill>
            <a:srgbClr val="12262B"/>
          </a:solidFill>
          <a:ln w="12700">
            <a:solidFill>
              <a:srgbClr val="12262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80644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evalúa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806440" y="1691640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1 · criterios a–i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Características, ventajas, clasificación, ámbitos, XML, bien formado y namespaces.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4 · criterios b y 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de definición XML y herramientas de validación.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repositorio en GitHub verificado con GitHub Actions.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lenguaje de marcas?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Marcas · 1º DAM · UD1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515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conjunto de reglas para anotar un texto con marcas (etiquetas) que describen su estructura o su presentación, de forma legible por personas y procesable por máquinas.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Etiqueta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5877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entre &lt; &gt;: &lt;nombre&gt; abre y &lt;/nombre&gt; cierra.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97180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34107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de apertura + contenido + etiqueta de cierre.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79476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3886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Atributo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42336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 nombre="valor" dentro de la etiqueta de apertura.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937760" y="118872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0E1B1F"/>
          </a:solidFill>
          <a:ln w="12700">
            <a:solidFill>
              <a:srgbClr val="0E1B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74920" y="1298448"/>
            <a:ext cx="34747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&lt;alumno id=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7E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"A01"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&lt;nombre&gt;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Lucía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&lt;/nombre&gt;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&lt;nota&gt;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&lt;/nota&gt;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&lt;/alumno&gt;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223760" y="914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937760" y="29260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&lt;alumno&gt; ... &lt;/alumno&gt;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 un elemento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id="A01"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 un atributo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Lucía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 el contenido de &lt;nombre&gt;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 y ventajas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Marcas · 1º DAM · UD1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2667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07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 comunes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1810512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176479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plano, legible por personas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85800" y="2340864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2340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229514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separadas del contenido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2871216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282549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jerárquica en árbol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3401568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335584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Independientes de plataforma y software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85800" y="3931920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188720" y="388620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sintaxis definidas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2667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92040" y="1207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 en el tratamiento de la información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892040" y="1810512"/>
            <a:ext cx="347472" cy="347472"/>
          </a:xfrm>
          <a:prstGeom prst="ellipse">
            <a:avLst/>
          </a:prstGeom>
          <a:solidFill>
            <a:srgbClr val="12262B"/>
          </a:solidFill>
          <a:ln w="12700">
            <a:solidFill>
              <a:srgbClr val="12262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92040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394960" y="176479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 entre sistemas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892040" y="2340864"/>
            <a:ext cx="347472" cy="347472"/>
          </a:xfrm>
          <a:prstGeom prst="ellipse">
            <a:avLst/>
          </a:prstGeom>
          <a:solidFill>
            <a:srgbClr val="12262B"/>
          </a:solidFill>
          <a:ln w="12700">
            <a:solidFill>
              <a:srgbClr val="12262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92040" y="2340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394960" y="229514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Reutilización del mismo contenido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892040" y="2871216"/>
            <a:ext cx="347472" cy="347472"/>
          </a:xfrm>
          <a:prstGeom prst="ellipse">
            <a:avLst/>
          </a:prstGeom>
          <a:solidFill>
            <a:srgbClr val="12262B"/>
          </a:solidFill>
          <a:ln w="12700">
            <a:solidFill>
              <a:srgbClr val="12262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89204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394960" y="282549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 procesamiento automático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892040" y="3401568"/>
            <a:ext cx="347472" cy="347472"/>
          </a:xfrm>
          <a:prstGeom prst="ellipse">
            <a:avLst/>
          </a:prstGeom>
          <a:solidFill>
            <a:srgbClr val="12262B"/>
          </a:solidFill>
          <a:ln w="12700">
            <a:solidFill>
              <a:srgbClr val="12262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9204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5394960" y="335584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conversión a otros formatos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4892040" y="3931920"/>
            <a:ext cx="347472" cy="347472"/>
          </a:xfrm>
          <a:prstGeom prst="ellipse">
            <a:avLst/>
          </a:prstGeom>
          <a:solidFill>
            <a:srgbClr val="12262B"/>
          </a:solidFill>
          <a:ln w="12700">
            <a:solidFill>
              <a:srgbClr val="12262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89204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5394960" y="388620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abiertos y duraderos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Orígenes y evolución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Marcas · 1º DAM · UD1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2331720"/>
            <a:ext cx="74980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1969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GML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3154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IBM: Goldfarb, Mosher y Lorie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286000" y="21031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860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828800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1986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SGML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874520" y="3154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 ISO 8879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0" y="21031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576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200400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1991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320040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3246120" y="3154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Berners-Lee, CERN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029200" y="21031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0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1998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 1.0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617720" y="3154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del W3C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00800" y="21031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943600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594360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XHTML 1.0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989320" y="3154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con sintaxis XML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772400" y="2103120"/>
            <a:ext cx="457200" cy="45720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772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7315200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2014</a:t>
            </a:r>
            <a:endParaRPr lang="en-US" sz="2400" dirty="0"/>
          </a:p>
        </p:txBody>
      </p:sp>
      <p:sp>
        <p:nvSpPr>
          <p:cNvPr id="35" name="Text 32"/>
          <p:cNvSpPr txBox="1"/>
          <p:nvPr/>
        </p:nvSpPr>
        <p:spPr>
          <a:xfrm>
            <a:off x="731520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7360920" y="3154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del W3C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SGML es el «padre» de HTML y XML: XML nace en 1998 como versión simplificada de SGML para la web.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Organizaciones que desarrollan los lenguajes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Marcas · 1º DAM · UD1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581912"/>
            <a:ext cx="2377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Organization for Standardization.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Organismo internacional de normalización.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Publicó SGML como norma ISO 8879 (1986).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46120" y="114300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328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W3C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1581912"/>
            <a:ext cx="2377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Wide Web Consortium (1994), fundado por Tim Berners-Lee.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«Recomendaciones»: XML, XHTML, CSS, XSLT, XML Schema, HTML5.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35040" y="114300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7220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WHATWG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1581912"/>
            <a:ext cx="2377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navegadores (Apple, Mozilla, Opera, Google).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HTML como «Living Standard», sin versiones cerradas, en colaboración con el W3C.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de los lenguajes de marcas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Marcas · 1º DAM · UD1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presentación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536192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Indican cómo se ve el texto.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606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RTF, TeX, troff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09728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Descriptivos o semánticos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1536192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Indican qué es cada parte del contenido.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2606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XML, SGML, DocBook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35040" y="109728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7220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Híbridos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172200" y="1536192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Mezclan estructura y presentación.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2606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HTML, XHTML, LaTeX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4290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12262B"/>
          </a:solidFill>
          <a:ln w="12700">
            <a:solidFill>
              <a:srgbClr val="1226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3520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su propósito: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(metalenguajes como SGML y XML, con los que se definen otros lenguajes) frente a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(HTML para la web, SVG para gráficos, RSS para noticias…).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Lenguajes de marcas más relevantes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Marcas · 1º DAM · UD1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3474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Ámbito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de uso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HTML / XHTML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Páginas web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 de un sitio web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XML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e intercambio de información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Ficheros de configuración, facturas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SVG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Gráficos vectoriales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Logotipos e iconos escalables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MathML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Fórmulas matemáticas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Ecuaciones en la web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RSS / Atom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Sindicación de contenidos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Feeds de noticias y blogs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KML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geográficos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Rutas y marcas en mapas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Markdown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Documentación ligera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README.md en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LaTeX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Documentos científicos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Artículos y tesis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Lenguaje de propósito general: XML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Marcas · 1º DAM · UD1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463040" y="1463040"/>
            <a:ext cx="3108960" cy="1143000"/>
          </a:xfrm>
          <a:prstGeom prst="line">
            <a:avLst/>
          </a:prstGeom>
          <a:noFill/>
          <a:ln w="19050">
            <a:solidFill>
              <a:srgbClr val="9CC5B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0" y="1463040"/>
            <a:ext cx="0" cy="1143000"/>
          </a:xfrm>
          <a:prstGeom prst="line">
            <a:avLst/>
          </a:prstGeom>
          <a:noFill/>
          <a:ln w="19050">
            <a:solidFill>
              <a:srgbClr val="9CC5B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4572000" y="1463040"/>
            <a:ext cx="3108960" cy="1143000"/>
          </a:xfrm>
          <a:prstGeom prst="line">
            <a:avLst/>
          </a:prstGeom>
          <a:noFill/>
          <a:ln w="19050">
            <a:solidFill>
              <a:srgbClr val="9CC5B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1463040" y="2606040"/>
            <a:ext cx="3108960" cy="1325880"/>
          </a:xfrm>
          <a:prstGeom prst="line">
            <a:avLst/>
          </a:prstGeom>
          <a:noFill/>
          <a:ln w="19050">
            <a:solidFill>
              <a:srgbClr val="9CC5B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2606040"/>
            <a:ext cx="0" cy="1325880"/>
          </a:xfrm>
          <a:prstGeom prst="line">
            <a:avLst/>
          </a:prstGeom>
          <a:noFill/>
          <a:ln w="19050">
            <a:solidFill>
              <a:srgbClr val="9CC5B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2606040"/>
            <a:ext cx="3108960" cy="1325880"/>
          </a:xfrm>
          <a:prstGeom prst="line">
            <a:avLst/>
          </a:prstGeom>
          <a:noFill/>
          <a:ln w="19050">
            <a:solidFill>
              <a:srgbClr val="9CC5B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210312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12262B"/>
          </a:solidFill>
          <a:ln w="12700">
            <a:solidFill>
              <a:srgbClr val="1226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83280" y="2103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</a:t>
            </a:r>
            <a:endParaRPr lang="en-US" sz="2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metalenguaje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457200" y="10972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E3F1E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1097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XHTML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566160" y="10972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E3F1E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566160" y="1097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SVG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675120" y="10972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E3F1E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75120" y="1097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57200" y="356616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E3F1E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3566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MathML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566160" y="356616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E3F1E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566160" y="3566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XSLT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675120" y="356616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E3F1E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75120" y="3566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 Schema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es un vocabulario definido sobre las reglas de XML.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 edición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Marcas · 1º DAM · UD1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58191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principal. Extensiones «XML» (Red Hat) y «XML Tools»: autocompletado, formato y errores en directo.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1430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0060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xmllint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800600" y="158191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línea de comandos (libxml2). Comprueba si un fichero está bien formado: xmllint --noout fichero.xml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2971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Navegador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331927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un XML y muestra el árbol de nodos; si hay un error de sintaxis, lo señala y no lo muestra.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00600" y="2971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y GitHub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800600" y="331927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 del proyecto. GitHub Actions valida automáticamente cada entrega.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XML: características propias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Marcas · 1º DAM · UD1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11338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Extensible: defines tus propias etiquetas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17739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datos, no su presentación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468880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24140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plano, codificación UTF-8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3108960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30540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jerárquica: un único árbol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3749040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60120" y="36941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 mayúsculas de minúsculas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88720"/>
          <a:ext cx="3840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14630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Describir datos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Etiquetas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Predefinidas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Definidas por 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veces opcional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Siempre obligatorio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navegador tolera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parser rechaza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Anatomía de un documento XML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Marcas · 1º DAM · UD1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4937760" cy="2468880"/>
          </a:xfrm>
          <a:prstGeom prst="roundRect">
            <a:avLst>
              <a:gd name="adj" fmla="val 2963"/>
            </a:avLst>
          </a:prstGeom>
          <a:solidFill>
            <a:srgbClr val="0E1B1F"/>
          </a:solidFill>
          <a:ln w="12700">
            <a:solidFill>
              <a:srgbClr val="0E1B1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207008"/>
            <a:ext cx="466344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&lt;?xml version=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"1.0"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encoding=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F9A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Listado del aula --&gt;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&lt;aula curso=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"1DAM"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&lt;alumno id=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"A01"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&lt;nombre&gt;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Lucía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&lt;/nombre&gt;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&lt;nota&gt;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&lt;/nota&gt;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&lt;/alumno&gt;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&lt;/aula&gt;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0" y="1097280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0" y="1097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104241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Prólogo  </a:t>
            </a:r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y codificación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0" y="1508760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0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080760" y="145389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 </a:t>
            </a:r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procesa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69280" y="1920240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080760" y="186537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 </a:t>
            </a:r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elemento padre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69280" y="2331720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69280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080760" y="227685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 hijo  </a:t>
            </a:r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anidado dentro de otro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669280" y="2743200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69280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080760" y="268833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 </a:t>
            </a:r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nombre="valor"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669280" y="3154680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6928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080760" y="309981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 </a:t>
            </a:r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dentro del elemento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Caracteres reservados: </a:t>
            </a:r>
            <a:pPr indent="0" marL="0">
              <a:buNone/>
            </a:pPr>
            <a:r>
              <a:rPr lang="en-US" sz="1250" b="1" dirty="0">
                <a:solidFill>
                  <a:srgbClr val="1F2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&amp;lt; &amp;gt; &amp;amp; &amp;quot; &amp;apos;</a:t>
            </a:r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y la sección CDATA para incluir texto sin interpretar.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5 reglas de oro del documento bien formado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Marcas · 1º DAM · UD1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0120" y="1325880"/>
            <a:ext cx="548640" cy="54864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30352" y="201168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Prólogo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514600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línea con versión y codificación UTF-8.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121408" y="118872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24328" y="132588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2432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194560" y="201168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Nodo raíz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231136" y="2514600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elemento padre que envuelve todo el cuerpo.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785616" y="118872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88536" y="132588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28853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3858768" y="201168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Emparejamiento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895344" y="2514600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etiqueta abierta se cierra, bien anidada.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49824" y="118872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52744" y="132588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5274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522976" y="201168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Mayúsculas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559552" y="2514600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&lt;Nota&gt; y &lt;nota&gt; son etiquetas distintas.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114032" y="118872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16952" y="132588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61695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7187184" y="201168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Atributos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223760" y="2514600"/>
            <a:ext cx="13350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siempre entre comillas: id="A01".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el estándar del W3C hace opcional el prólogo, pero en este módulo es obligatorio.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Bien formado y su influencia en el procesamiento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Marcas · 1º DAM · UD1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 Mal formado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0E1B1F"/>
          </a:solidFill>
          <a:ln w="12700">
            <a:solidFill>
              <a:srgbClr val="0E1B1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572768"/>
            <a:ext cx="36576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&lt;alumno id=A01&gt;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&lt;Nombre&gt;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Lucía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&lt;/nombre&gt;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&lt;nota&gt;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&lt;/alumno&gt;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Bien formado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0E1B1F"/>
          </a:solidFill>
          <a:ln w="12700">
            <a:solidFill>
              <a:srgbClr val="0E1B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1572768"/>
            <a:ext cx="36576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&lt;alumno id=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"A01"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&lt;nombre&gt;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Lucía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&lt;/nombre&gt;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&lt;nota&gt;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&lt;/nota&gt;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&lt;/alumno&gt;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017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sin comillas:  </a:t>
            </a:r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id=A01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246120" y="3017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Mayúsculas:  </a:t>
            </a:r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&lt;Nombre&gt; ≠ &lt;/nombre&gt;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3017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sin cerrar:  </a:t>
            </a:r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&lt;nota&gt;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56616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12262B"/>
          </a:solidFill>
          <a:ln w="12700">
            <a:solidFill>
              <a:srgbClr val="12262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36118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error → error fatal.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analizador (parser) no procesa el documento: no se muestra, no se transforma y no se puede validar. Por eso primero se comprueba que esté bien formado.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Espacios de nombres (namespaces)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Marcas · 1º DAM · UD1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mezclar datos de dos fuentes, un mismo nombre de etiqueta (por ejemplo &lt;nombre&gt;) puede significar cosas distintas.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60604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cada vocabulario con </a:t>
            </a:r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F2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xmlns:prefijo="URI"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usar el prefijo en las etiquetas.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URI es solo un identificador único, no tiene que existir en la web.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72000" y="1143000"/>
            <a:ext cx="4114800" cy="2194560"/>
          </a:xfrm>
          <a:prstGeom prst="roundRect">
            <a:avLst>
              <a:gd name="adj" fmla="val 3333"/>
            </a:avLst>
          </a:prstGeom>
          <a:solidFill>
            <a:srgbClr val="0E1B1F"/>
          </a:solidFill>
          <a:ln w="12700">
            <a:solidFill>
              <a:srgbClr val="0E1B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09160" y="1252728"/>
            <a:ext cx="38404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&lt;ficha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xmlns:cli=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7E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"http://example.org/cli"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xmlns:prv=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7E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"http://example.org/prv"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&lt;cli:nombre&gt;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 Ruiz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&lt;/cli:nombre&gt;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&lt;prv:nombre&gt;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Suministros Sur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&lt;/prv:nombre&gt;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&lt;/ficha&gt;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868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0" y="356616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54880" y="3611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Ventajas: evita colisiones, permite mezclar vocabularios (XHTML + SVG + MathML) y reutilizar lenguajes ya definidos.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Lenguajes de marcas frente a lenguajes de listas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Marcas · 1º DAM · UD1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 (de marcas)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0E1B1F"/>
          </a:solidFill>
          <a:ln w="12700">
            <a:solidFill>
              <a:srgbClr val="0E1B1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527048"/>
            <a:ext cx="36576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&lt;alumno id=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"A01"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&lt;nombre&gt;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Lucía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&lt;/nombre&gt;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&lt;nota&gt;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&lt;/nota&gt;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&lt;/alumno&gt;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(de listas)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54880" y="14173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0E1B1F"/>
          </a:solidFill>
          <a:ln w="12700">
            <a:solidFill>
              <a:srgbClr val="0E1B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1527048"/>
            <a:ext cx="36576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"A01"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"nombre"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"Lucía"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7EE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"nota"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8.5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7F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1089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Cuándo elegir XML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354787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con estructura compleja, comentarios, validación con DTD/XSD y transformaciones XSLT.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54880" y="31089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920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Cuándo elegir JSON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892040" y="354787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Intercambio ligero de datos entre aplicaciones y APIs web, sobre todo con JavaScript.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Claves de aprendizaje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Marcas · 1º DAM · UD1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32588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3075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lenguaje de marcas añade etiquetas al contenido.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1143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29000" y="132588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290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977640" y="13075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Estándares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42900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y W3C definen y mantienen los lenguajes.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0" y="1143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17920" y="132588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766560" y="13075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Metalenguaje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permite crear vocabularios propios.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288036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306324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188720" y="3044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xmllint y el navegador detectan errores.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246120" y="288036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429000" y="306324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4290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977640" y="3044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Bien formado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342900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reglas de oro; un error detiene el parser.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035040" y="288036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217920" y="306324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2179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766560" y="3044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Namespaces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621792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xmlns y prefijos evitan colisiones de nombres.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Ahora, al laboratorio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«bola de nieve» en GitHub que crecerá durante todo el curso.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C3A40"/>
          </a:solidFill>
          <a:ln w="12700">
            <a:solidFill>
              <a:srgbClr val="1C3A4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 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10312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 + README + .gitignore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542032" y="16002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C3A40"/>
          </a:solidFill>
          <a:ln w="12700">
            <a:solidFill>
              <a:srgbClr val="1C3A4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79192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 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679192" y="210312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empresa.xml bien formado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26864" y="16002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C3A40"/>
          </a:solidFill>
          <a:ln w="12700">
            <a:solidFill>
              <a:srgbClr val="1C3A4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64024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 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764024" y="210312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com: y log: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711696" y="160020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1C3A40"/>
          </a:solidFill>
          <a:ln w="12700">
            <a:solidFill>
              <a:srgbClr val="1C3A4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48856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 4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848856" y="210312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Validación, commit y push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3832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34290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del juego: </a:t>
            </a:r>
            <a:pPr indent="0" marL="0">
              <a:buNone/>
            </a:pPr>
            <a:r>
              <a:rPr lang="en-US" sz="1400" dirty="0">
                <a:solidFill>
                  <a:srgbClr val="1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solo para depurar sintaxis o resolver dudas de concepto. Se revisa la autoría con la frecuencia y coherencia de tus commits, y una GitHub Action verifica tu entrega.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UD1 - El lenguaje de marcas</dc:title>
  <dc:subject>PptxGenJS Presentation</dc:subject>
  <dc:creator>Mª del Carmen Sánchez Ruiz</dc:creator>
  <cp:lastModifiedBy>Mª del Carmen Sánchez Ruiz</cp:lastModifiedBy>
  <cp:revision>1</cp:revision>
  <dcterms:created xsi:type="dcterms:W3CDTF">2026-09-20T17:48:22Z</dcterms:created>
  <dcterms:modified xsi:type="dcterms:W3CDTF">2026-09-20T17:48:22Z</dcterms:modified>
</cp:coreProperties>
</file>